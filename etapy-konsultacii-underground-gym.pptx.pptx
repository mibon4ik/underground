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0" y="91440"/>
            <a:ext cx="77724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FFFFF">
                    <a:alpha val="7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ЭТАПЫ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ЭТАПЫ КОНСУЛЬТАЦИИ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менеджера по продажам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Underground GYM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29443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Подробный разбор каждого этапа с реальными примерами из диалогов менеджера Арайлым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462272"/>
            <a:ext cx="9144000" cy="6812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480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365760" y="47731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ЭТАПОВ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514600" y="4480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~65%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514600" y="47731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КОНВЕРСИЯ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63440" y="4480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663440" y="47731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КАСАНИЯ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812280" y="4480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22:08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812280" y="47731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САМАЯ ПОЗДНЯЯ ПРОДАЖА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E38"/>
          </a:solidFill>
          <a:ln w="12700">
            <a:solidFill>
              <a:srgbClr val="0F1E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ПОЛНАЯ СТРУКТУРА КОНСУЛЬТАЦИИ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01168" y="1005840"/>
            <a:ext cx="987552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1005840"/>
            <a:ext cx="987552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1033272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01168" y="1572768"/>
            <a:ext cx="987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👋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37744" y="2121408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Установление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контакта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52144" y="22860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8A8A"/>
                </a:solidFill>
              </a:rPr>
              <a:t>›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98448" y="1005840"/>
            <a:ext cx="987552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298448" y="1005840"/>
            <a:ext cx="987552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98448" y="1033272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298448" y="1572768"/>
            <a:ext cx="987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❓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335024" y="2121408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49424" y="22860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8A8A"/>
                </a:solidFill>
              </a:rPr>
              <a:t>›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395728" y="1005840"/>
            <a:ext cx="987552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395728" y="1005840"/>
            <a:ext cx="987552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95728" y="1033272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395728" y="1572768"/>
            <a:ext cx="987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2432304" y="2121408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Презентация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46704" y="22860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8A8A"/>
                </a:solidFill>
              </a:rPr>
              <a:t>›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493008" y="1005840"/>
            <a:ext cx="987552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493008" y="1005840"/>
            <a:ext cx="987552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93008" y="1033272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3493008" y="1572768"/>
            <a:ext cx="987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🤝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3529584" y="2121408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Закрытие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443984" y="22860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8A8A"/>
                </a:solidFill>
              </a:rPr>
              <a:t>›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590288" y="1005840"/>
            <a:ext cx="987552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90288" y="1005840"/>
            <a:ext cx="987552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90288" y="1033272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4590288" y="1572768"/>
            <a:ext cx="987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4626864" y="2121408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Возражения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541264" y="22860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8A8A"/>
                </a:solidFill>
              </a:rPr>
              <a:t>›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5687568" y="1005840"/>
            <a:ext cx="987552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687568" y="1005840"/>
            <a:ext cx="987552" cy="502920"/>
          </a:xfrm>
          <a:prstGeom prst="rect">
            <a:avLst/>
          </a:prstGeom>
          <a:solidFill>
            <a:srgbClr val="E8402A"/>
          </a:solidFill>
          <a:ln w="12700">
            <a:solidFill>
              <a:srgbClr val="E840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87568" y="1033272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5687568" y="1572768"/>
            <a:ext cx="987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🔥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5724144" y="2121408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Дожим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638544" y="22860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8A8A"/>
                </a:solidFill>
              </a:rPr>
              <a:t>›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6784848" y="1005840"/>
            <a:ext cx="987552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784848" y="1005840"/>
            <a:ext cx="987552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84848" y="1033272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6784848" y="1572768"/>
            <a:ext cx="987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6821424" y="2121408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Предзакрытие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735824" y="22860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8A8A"/>
                </a:solidFill>
              </a:rPr>
              <a:t>›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7882128" y="1005840"/>
            <a:ext cx="987552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882128" y="1005840"/>
            <a:ext cx="987552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882128" y="1033272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2400" dirty="0"/>
          </a:p>
        </p:txBody>
      </p:sp>
      <p:sp>
        <p:nvSpPr>
          <p:cNvPr id="49" name="Text 47"/>
          <p:cNvSpPr/>
          <p:nvPr/>
        </p:nvSpPr>
        <p:spPr>
          <a:xfrm>
            <a:off x="7882128" y="1572768"/>
            <a:ext cx="987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😊</a:t>
            </a:r>
            <a:endParaRPr lang="en-US" sz="2600" dirty="0"/>
          </a:p>
        </p:txBody>
      </p:sp>
      <p:sp>
        <p:nvSpPr>
          <p:cNvPr id="50" name="Text 48"/>
          <p:cNvSpPr/>
          <p:nvPr/>
        </p:nvSpPr>
        <p:spPr>
          <a:xfrm>
            <a:off x="7918704" y="2121408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Эмоции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784848" y="1005840"/>
            <a:ext cx="2103120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84848" y="10241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ЖЕЛАТЕЛЬНЫЕ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01168" y="4663440"/>
            <a:ext cx="8741664" cy="365760"/>
          </a:xfrm>
          <a:prstGeom prst="rect">
            <a:avLst/>
          </a:prstGeom>
          <a:solidFill>
            <a:srgbClr val="E8F4FD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0040" y="47183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Главное — плавные переходы из этапа в этап. Не сплошная консультация как у робота.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E38"/>
          </a:solidFill>
          <a:ln w="12700">
            <a:solidFill>
              <a:srgbClr val="0F1E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👋  ЭТАП 1 — УСТАНОВЛЕНИЕ КОНТАКТА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8755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Познакомься с клиентом. Задай 4 обязательных вопроса — без них продажи нет.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417320"/>
            <a:ext cx="2029968" cy="2194560"/>
          </a:xfrm>
          <a:prstGeom prst="rect">
            <a:avLst/>
          </a:prstGeom>
          <a:solidFill>
            <a:srgbClr val="1A2B4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417320"/>
            <a:ext cx="2029968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481328"/>
            <a:ext cx="2029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🙋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960120" y="2084832"/>
            <a:ext cx="621792" cy="6217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08483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29184" y="281635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«Как меня зовут?»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" y="3218688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Представься первым — имя создаёт доверие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32304" y="1417320"/>
            <a:ext cx="2029968" cy="2194560"/>
          </a:xfrm>
          <a:prstGeom prst="rect">
            <a:avLst/>
          </a:prstGeom>
          <a:solidFill>
            <a:srgbClr val="1A2B4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32304" y="1417320"/>
            <a:ext cx="2029968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32304" y="1481328"/>
            <a:ext cx="2029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📍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3136392" y="2084832"/>
            <a:ext cx="621792" cy="6217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36392" y="208483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505456" y="281635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«Откуда я?»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05456" y="3218688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Назови клуб и филиал — клиент поймёт кто звонит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08576" y="1417320"/>
            <a:ext cx="2029968" cy="2194560"/>
          </a:xfrm>
          <a:prstGeom prst="rect">
            <a:avLst/>
          </a:prstGeom>
          <a:solidFill>
            <a:srgbClr val="1A2B4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08576" y="1417320"/>
            <a:ext cx="2029968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08576" y="1481328"/>
            <a:ext cx="2029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📞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5312664" y="208483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12664" y="208483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681728" y="281635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«Зачем звоню?»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81728" y="3218688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Кратко объясни цель — не теряй время клиента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784848" y="1417320"/>
            <a:ext cx="2029968" cy="2194560"/>
          </a:xfrm>
          <a:prstGeom prst="rect">
            <a:avLst/>
          </a:prstGeom>
          <a:solidFill>
            <a:srgbClr val="1A2B4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784848" y="1417320"/>
            <a:ext cx="2029968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84848" y="1481328"/>
            <a:ext cx="2029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30" name="Shape 28"/>
          <p:cNvSpPr/>
          <p:nvPr/>
        </p:nvSpPr>
        <p:spPr>
          <a:xfrm>
            <a:off x="7488936" y="2084832"/>
            <a:ext cx="621792" cy="62179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88936" y="208483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858000" y="281635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«Как зовут клиента?»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58000" y="3218688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Узнай имя и используй в разговоре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56032" y="3730752"/>
            <a:ext cx="4160520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184" y="377647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КАК ДЕЛАЛА АРАЙЛЫМ: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56032" y="4023360"/>
            <a:ext cx="4160520" cy="548640"/>
          </a:xfrm>
          <a:prstGeom prst="rect">
            <a:avLst/>
          </a:prstGeom>
          <a:solidFill>
            <a:srgbClr val="EAF5EA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4078224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«Добрый день, меня зовут Арайлым, я менеджер Underground Gym! Как к вам обращаться?»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26280" y="3730752"/>
            <a:ext cx="434340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99432" y="3776472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КАК ДЕЛАТЬ НЕ НАДО: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26280" y="4023360"/>
            <a:ext cx="4343400" cy="5486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17720" y="4078224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«Алло, вы звонили по абонементу? Ну, что вас интересует?»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E38"/>
          </a:solidFill>
          <a:ln w="12700">
            <a:solidFill>
              <a:srgbClr val="0F1E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❓  ЭТАП 2 — ВОПРОСЫ — КВАЛИФИКАЦИЯ КЛИЕНТА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987552"/>
            <a:ext cx="3200400" cy="3977640"/>
          </a:xfrm>
          <a:prstGeom prst="rect">
            <a:avLst/>
          </a:prstGeom>
          <a:solidFill>
            <a:srgbClr val="0F1E38"/>
          </a:solidFill>
          <a:ln w="12700">
            <a:solidFill>
              <a:srgbClr val="0F1E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87552"/>
            <a:ext cx="32004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15568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этапа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444752"/>
            <a:ext cx="2944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Получить максимум информации. Чем больше узнаёшь — тем точнее презентация и выше продажа.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4048" y="2212848"/>
            <a:ext cx="2743200" cy="0"/>
          </a:xfrm>
          <a:prstGeom prst="line">
            <a:avLst/>
          </a:prstGeom>
          <a:noFill/>
          <a:ln w="12700">
            <a:solidFill>
              <a:srgbClr val="2A3F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2304288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реальных диалогов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" y="2606040"/>
            <a:ext cx="29443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Арайлым спрашивала: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«Сколько полных лет? Есть ли опыт занятий? Есть ли противопоказания по здоровью? Какая цель — похудение, набор или поддержание?»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7472" y="3703320"/>
            <a:ext cx="3017520" cy="594360"/>
          </a:xfrm>
          <a:prstGeom prst="rect">
            <a:avLst/>
          </a:prstGeom>
          <a:solidFill>
            <a:srgbClr val="1A0A3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3767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Если клиент не хочет отвечать — дай прайс и задавай вопросы по ходу разговора.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0" y="100584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ОСНОВНЫХ ВОПРОСОВ: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0" y="1389888"/>
            <a:ext cx="523036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0" y="1389888"/>
            <a:ext cx="9144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94760" y="1481328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9476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51960" y="143560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Филиал?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251960" y="1682496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Какой зал интересует? Ближе к дому или работе?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0" y="2075688"/>
            <a:ext cx="523036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0" y="2075688"/>
            <a:ext cx="9144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94760" y="2167128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94760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251960" y="212140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ли опыт тренировок?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251960" y="2368296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Занимался ли раньше? С какими результатами?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0" y="2761488"/>
            <a:ext cx="523036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0" y="2761488"/>
            <a:ext cx="91440" cy="566928"/>
          </a:xfrm>
          <a:prstGeom prst="rect">
            <a:avLst/>
          </a:prstGeom>
          <a:solidFill>
            <a:srgbClr val="E8402A"/>
          </a:solidFill>
          <a:ln w="12700">
            <a:solidFill>
              <a:srgbClr val="E8402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94760" y="2852928"/>
            <a:ext cx="384048" cy="384048"/>
          </a:xfrm>
          <a:prstGeom prst="ellipse">
            <a:avLst/>
          </a:prstGeom>
          <a:solidFill>
            <a:srgbClr val="E8402A"/>
          </a:solidFill>
          <a:ln w="12700">
            <a:solidFill>
              <a:srgbClr val="E840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947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251960" y="280720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ли травмы или противопоказания?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251960" y="3054096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 для подбора программы и тренера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657600" y="3447288"/>
            <a:ext cx="523036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657600" y="3447288"/>
            <a:ext cx="91440" cy="5669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794760" y="3538728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9476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251960" y="349300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и боль?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251960" y="3739896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Чего хочет достичь? Что мешает? Развей боль клиента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657600" y="4133088"/>
            <a:ext cx="523036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657600" y="4133088"/>
            <a:ext cx="91440" cy="5669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94760" y="4224528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94760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251960" y="417880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что обращает внимание при выборе?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4251960" y="4425696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Цена? Тренер? Оборудование? Расположение?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E38"/>
          </a:solidFill>
          <a:ln w="12700">
            <a:solidFill>
              <a:srgbClr val="0F1E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 ЭТАП 3 — ПРЕЗЕНТАЦИЯ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960120"/>
            <a:ext cx="8631936" cy="457200"/>
          </a:xfrm>
          <a:prstGeom prst="rect">
            <a:avLst/>
          </a:prstGeom>
          <a:solidFill>
            <a:srgbClr val="0A203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02412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Презентация строится ТОЛЬКО на ответах клиента из этапа «Вопросы». Рассказываешь то, что важно именно ему.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56032" y="1536192"/>
            <a:ext cx="4206240" cy="1389888"/>
          </a:xfrm>
          <a:prstGeom prst="rect">
            <a:avLst/>
          </a:prstGeom>
          <a:solidFill>
            <a:srgbClr val="1A2B4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536192"/>
            <a:ext cx="420624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62763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🏢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914400" y="1645920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 филиале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1975104"/>
            <a:ext cx="34564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Конкретный зал под запрос клиента: расположение, зоны, оборудование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90872" y="1536192"/>
            <a:ext cx="4206240" cy="1389888"/>
          </a:xfrm>
          <a:prstGeom prst="rect">
            <a:avLst/>
          </a:prstGeom>
          <a:solidFill>
            <a:srgbClr val="1A2B4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90872" y="1536192"/>
            <a:ext cx="420624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82312" y="162763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🏋️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349240" y="1645920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Виды услуг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49240" y="1975104"/>
            <a:ext cx="34564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Самостоятельно / ДЖ / Персональный тренер — только нужное клиенту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56032" y="3072384"/>
            <a:ext cx="4206240" cy="1389888"/>
          </a:xfrm>
          <a:prstGeom prst="rect">
            <a:avLst/>
          </a:prstGeom>
          <a:solidFill>
            <a:srgbClr val="1A2B4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3072384"/>
            <a:ext cx="420624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3163824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14400" y="3182112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Цены — с МЕСЯЦА!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3511296"/>
            <a:ext cx="34564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Начинай с малого → плавно к акционным пакетам. Никогда наоборот!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90872" y="3072384"/>
            <a:ext cx="4206240" cy="1389888"/>
          </a:xfrm>
          <a:prstGeom prst="rect">
            <a:avLst/>
          </a:prstGeom>
          <a:solidFill>
            <a:srgbClr val="1A2B4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90872" y="3072384"/>
            <a:ext cx="420624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82312" y="3163824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5349240" y="3182112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Подбор абонемента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49240" y="3511296"/>
            <a:ext cx="34564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точный вариант под потребность. Не всё подряд — а конкретный выбор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56032" y="4617720"/>
            <a:ext cx="8631936" cy="411480"/>
          </a:xfrm>
          <a:prstGeom prst="rect">
            <a:avLst/>
          </a:prstGeom>
          <a:solidFill>
            <a:srgbClr val="EAF5EA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4654296"/>
            <a:ext cx="8430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Арайлым — Нурбол: «По акции Яндекс за стоимость 3 месяцев (100 000 ₸) дарим ещё 9 месяцев бесплатно. В рассрочку всего 8 333 ₸ в месяц!»  → Продажа в 22:08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E38"/>
          </a:solidFill>
          <a:ln w="12700">
            <a:solidFill>
              <a:srgbClr val="0F1E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🤝  ЭТАП 4 — ЗАКРЫТИЕ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8755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презентации — прямой вопрос на покупку. Не жди пока клиент сам решит.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417320"/>
            <a:ext cx="2788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417320"/>
            <a:ext cx="278892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57276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«Берём?»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2176272"/>
            <a:ext cx="2578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Самый прямой вопрос. Работает после сильной презентации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0" y="1417320"/>
            <a:ext cx="2788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417320"/>
            <a:ext cx="278892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57276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«Оформляем?»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10128" y="2176272"/>
            <a:ext cx="2578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Мягкий вариант — предполагает что клиент уже согласился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44768" y="1417320"/>
            <a:ext cx="2788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44768" y="1417320"/>
            <a:ext cx="278892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36208" y="157276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«Подходят ли вам наши услуги?»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54496" y="2176272"/>
            <a:ext cx="2578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Открытый вопрос — даёт клиенту возможность высказаться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56032" y="3456432"/>
            <a:ext cx="4160520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" y="350215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КАК ДЕЛАЛА АРАЙЛЫМ: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3749040"/>
            <a:ext cx="4160520" cy="548640"/>
          </a:xfrm>
          <a:prstGeom prst="rect">
            <a:avLst/>
          </a:prstGeom>
          <a:solidFill>
            <a:srgbClr val="EAF5EA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3803904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«Арайлым — Елизавете: «Что думаете? Зафиксируем за вами абонемент?»  → Клиент купила на следующий день»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26280" y="3456432"/>
            <a:ext cx="434340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99432" y="3502152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КАК ДЕЛАТЬ НЕ НАДО: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26280" y="3749040"/>
            <a:ext cx="4343400" cy="5486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3803904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««Ну, если что — напишите мне…» — не закрытие, а потеря клиента»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56032" y="4498848"/>
            <a:ext cx="8631936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4553712"/>
            <a:ext cx="8494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После вопроса закрытия — МОЛЧИ. Кто говорит первым — тот проигрывает. Дай клиенту ответить.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E38"/>
          </a:solidFill>
          <a:ln w="12700">
            <a:solidFill>
              <a:srgbClr val="0F1E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 ЭТАП 5 — РАБОТА С ВОЗРАЖЕНИЯМИ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консультация грамотная — возражений почти нет. Но если есть — это не отказ, это запрос на другой аргумент.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56032" y="1417320"/>
            <a:ext cx="4206240" cy="1024128"/>
          </a:xfrm>
          <a:prstGeom prst="rect">
            <a:avLst/>
          </a:prstGeom>
          <a:solidFill>
            <a:srgbClr val="1A2B4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417320"/>
            <a:ext cx="91440" cy="10241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49047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77824" y="1490472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«Дорого»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77824" y="1801368"/>
            <a:ext cx="3493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Рассрочка без первого платежа. 8 333 ₸/мес — это меньше чем кофе в день.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4206240" cy="1024128"/>
          </a:xfrm>
          <a:prstGeom prst="rect">
            <a:avLst/>
          </a:prstGeom>
          <a:solidFill>
            <a:srgbClr val="1A2B4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417320"/>
            <a:ext cx="91440" cy="10241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49047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285232" y="1490472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«Подумаю»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85232" y="1801368"/>
            <a:ext cx="3493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Акция действует только сегодня. Давайте зафиксирую за вами — ничего не платите сейчас.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" y="2587752"/>
            <a:ext cx="4206240" cy="1024128"/>
          </a:xfrm>
          <a:prstGeom prst="rect">
            <a:avLst/>
          </a:prstGeom>
          <a:solidFill>
            <a:srgbClr val="1A2B4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2587752"/>
            <a:ext cx="91440" cy="10241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" y="266090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💳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77824" y="2660904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«Против рассрочки»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77824" y="2971800"/>
            <a:ext cx="3493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Можно оплатить наличными или картой сразу — выберем удобный способ.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2587752"/>
            <a:ext cx="4206240" cy="1024128"/>
          </a:xfrm>
          <a:prstGeom prst="rect">
            <a:avLst/>
          </a:prstGeom>
          <a:solidFill>
            <a:srgbClr val="1A2B4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2587752"/>
            <a:ext cx="91440" cy="10241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66090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🧖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285232" y="2660904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«Бассейн и сауна»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85232" y="2971800"/>
            <a:ext cx="3493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У нас финская сауна во всех BIG-форматах. Покажу ближайший такой филиал.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56032" y="3758184"/>
            <a:ext cx="4206240" cy="1024128"/>
          </a:xfrm>
          <a:prstGeom prst="rect">
            <a:avLst/>
          </a:prstGeom>
          <a:solidFill>
            <a:srgbClr val="1A2B4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56032" y="3758184"/>
            <a:ext cx="91440" cy="10241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3192" y="383133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877824" y="3831336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«Долгий срок»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77824" y="4142232"/>
            <a:ext cx="3493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60 дней заморозки — если не сможешь ходить, приостановишь без потерь.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3758184"/>
            <a:ext cx="4206240" cy="1024128"/>
          </a:xfrm>
          <a:prstGeom prst="rect">
            <a:avLst/>
          </a:prstGeom>
          <a:solidFill>
            <a:srgbClr val="1A2B4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3758184"/>
            <a:ext cx="91440" cy="10241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383133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⏰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285232" y="3831336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«Нет времени»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285232" y="4142232"/>
            <a:ext cx="3493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Мы работаем с 6 утра до 23 вечера. Можем подобрать время под твой график.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56032" y="4754880"/>
            <a:ext cx="8631936" cy="292608"/>
          </a:xfrm>
          <a:prstGeom prst="rect">
            <a:avLst/>
          </a:prstGeom>
          <a:solidFill>
            <a:srgbClr val="1A120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4773168"/>
            <a:ext cx="8430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Гумырбек раскусил скрипт: «Красивый скрипт, я в продажах с 2008-го». Арайлым не растерялась — ответила уверенно и предложила пробное. Клиент написал снова через 4 дня.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E38"/>
          </a:solidFill>
          <a:ln w="12700">
            <a:solidFill>
              <a:srgbClr val="0F1E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🔥  ЭТАП 6 — ДОЖИМ — 3 КАСАНИЯ ДО КОНЦА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8402A"/>
          </a:solidFill>
          <a:ln w="12700">
            <a:solidFill>
              <a:srgbClr val="E840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8755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Цель: не отпустить клиента после первого отказа. После трёх «нет» — договариваемся о повторном звонке.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389888"/>
            <a:ext cx="8631936" cy="530352"/>
          </a:xfrm>
          <a:prstGeom prst="rect">
            <a:avLst/>
          </a:prstGeom>
          <a:solidFill>
            <a:srgbClr val="E8402A"/>
          </a:solidFill>
          <a:ln w="12700">
            <a:solidFill>
              <a:srgbClr val="E840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 АРАЙЛЫМ: «Работаю со сделками до отказа. Неважно на каком этапе клиент — делаю стабильно 3 касания. Пока клиент не пошлёт или не заблокирует.»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56032" y="2057400"/>
            <a:ext cx="278892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2057400"/>
            <a:ext cx="2788920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2130552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КАСАНИЕ 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472" y="257860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день обращения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(через 3–5 часов)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" y="3127248"/>
            <a:ext cx="26060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««[Имя], что думаете? Зафиксируем? Условия действуют до конца дня.»»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2057400"/>
            <a:ext cx="278892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2057400"/>
            <a:ext cx="2788920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2130552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КАСАНИЕ 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91840" y="257860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следующий день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(утро или обед)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91840" y="3127248"/>
            <a:ext cx="26060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««Добрый день! Могу оформить в рассрочку — сегодня ничего не платите, первый платёж со следующего месяца.»»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44768" y="2057400"/>
            <a:ext cx="278892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44768" y="2057400"/>
            <a:ext cx="2788920" cy="475488"/>
          </a:xfrm>
          <a:prstGeom prst="rect">
            <a:avLst/>
          </a:prstGeom>
          <a:solidFill>
            <a:srgbClr val="E8402A"/>
          </a:solidFill>
          <a:ln w="12700">
            <a:solidFill>
              <a:srgbClr val="E840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44768" y="2130552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КАСАНИЕ 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36208" y="257860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2–3 дня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8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(финальная попытка)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36208" y="3127248"/>
            <a:ext cx="26060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««[Имя], не будете заниматься? Держу для вас предложение — если не актуально, скажите, сниму бронь.»»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6032" y="4645152"/>
            <a:ext cx="8631936" cy="384048"/>
          </a:xfrm>
          <a:prstGeom prst="rect">
            <a:avLst/>
          </a:prstGeom>
          <a:solidFill>
            <a:srgbClr val="EAF5EA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4681728"/>
            <a:ext cx="8430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Нурбол: сказал «нет денег» → Арайлым сделала 3 касания за 2 дня → на 3-м касании предложила рассрочку без первого платежа → ПРОДАЖА В 22:08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E38"/>
          </a:solidFill>
          <a:ln w="12700">
            <a:solidFill>
              <a:srgbClr val="0F1E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 ЭТАП 7 — ПРЕДЗАКРЫТИЕ + ПРИМЕР ИЗ ЖИЗНИ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960120"/>
            <a:ext cx="4160520" cy="4005072"/>
          </a:xfrm>
          <a:prstGeom prst="rect">
            <a:avLst/>
          </a:prstGeom>
          <a:solidFill>
            <a:srgbClr val="1A2B4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60120"/>
            <a:ext cx="416052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00584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 ПРЕДЗАКРЫТИЕ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7472" y="144475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Слова и вопросы, которые двигают клиента к покупке: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" y="1920240"/>
            <a:ext cx="3977640" cy="475488"/>
          </a:xfrm>
          <a:prstGeom prst="rect">
            <a:avLst/>
          </a:prstGeom>
          <a:solidFill>
            <a:srgbClr val="162236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993392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«Круто!» / «Прекрасно!» / «Замечательно!»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472" y="2487168"/>
            <a:ext cx="3977640" cy="475488"/>
          </a:xfrm>
          <a:prstGeom prst="rect">
            <a:avLst/>
          </a:prstGeom>
          <a:solidFill>
            <a:srgbClr val="162236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560320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«Давайте я задам вам несколько вопросов»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7472" y="3054096"/>
            <a:ext cx="3977640" cy="475488"/>
          </a:xfrm>
          <a:prstGeom prst="rect">
            <a:avLst/>
          </a:prstGeom>
          <a:solidFill>
            <a:srgbClr val="162236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3127248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«Подберём самый эффективный абонемент»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7472" y="3621024"/>
            <a:ext cx="3977640" cy="475488"/>
          </a:xfrm>
          <a:prstGeom prst="rect">
            <a:avLst/>
          </a:prstGeom>
          <a:solidFill>
            <a:srgbClr val="162236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694176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«И оформим его — хорошо?»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7472" y="4206240"/>
            <a:ext cx="3977640" cy="594360"/>
          </a:xfrm>
          <a:prstGeom prst="rect">
            <a:avLst/>
          </a:prstGeom>
          <a:solidFill>
            <a:srgbClr val="1A120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4279392"/>
            <a:ext cx="3822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Предзакрытие = разогрев. Клиент начинает кивать и соглашаться ещё до финального вопроса.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17720" y="960120"/>
            <a:ext cx="4270248" cy="4005072"/>
          </a:xfrm>
          <a:prstGeom prst="rect">
            <a:avLst/>
          </a:prstGeom>
          <a:solidFill>
            <a:srgbClr val="1A2B4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17720" y="960120"/>
            <a:ext cx="4270248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1005840"/>
            <a:ext cx="4087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🌟  ПРИМЕР ИЗ ЖИЗНИ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709160" y="1444752"/>
            <a:ext cx="4087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это такое: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09160" y="1755648"/>
            <a:ext cx="4087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Любые истории о твоём опыте тренировок или опыте других людей, которые начали заниматься и добились успеха. Цель — вызвать доверие.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09160" y="2560320"/>
            <a:ext cx="3931920" cy="0"/>
          </a:xfrm>
          <a:prstGeom prst="line">
            <a:avLst/>
          </a:prstGeom>
          <a:noFill/>
          <a:ln w="12700">
            <a:solidFill>
              <a:srgbClr val="2A3F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2670048"/>
            <a:ext cx="4087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Примеры из диалогов Арайлым: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09160" y="3035808"/>
            <a:ext cx="4087368" cy="530352"/>
          </a:xfrm>
          <a:prstGeom prst="rect">
            <a:avLst/>
          </a:prstGeom>
          <a:solidFill>
            <a:srgbClr val="162236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3099816"/>
            <a:ext cx="3904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««У нас клиентка Мадина — пришла с той же целью, сейчас минус 12 кг за 4 месяца»»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3657600"/>
            <a:ext cx="4087368" cy="530352"/>
          </a:xfrm>
          <a:prstGeom prst="rect">
            <a:avLst/>
          </a:prstGeom>
          <a:solidFill>
            <a:srgbClr val="162236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3721608"/>
            <a:ext cx="3904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««Я сама занималась у тренера Ербола — результат уже после первого месяца»»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4279392"/>
            <a:ext cx="4087368" cy="530352"/>
          </a:xfrm>
          <a:prstGeom prst="rect">
            <a:avLst/>
          </a:prstGeom>
          <a:solidFill>
            <a:srgbClr val="162236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4343400"/>
            <a:ext cx="3904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««Нурбол взял в рассрочку 8 333 тг/мес — говорит это меньше чем на кофе тратил»»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E38"/>
          </a:solidFill>
          <a:ln w="12700">
            <a:solidFill>
              <a:srgbClr val="0F1E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😊  ЭТАП 8 — ЭМОЦИИ + СТРУКТУРА КОНСУЛЬТАЦИИ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9264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Желательные элементы — но именно они превращают обычного менеджера в лучшего.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371600"/>
            <a:ext cx="4160520" cy="3520440"/>
          </a:xfrm>
          <a:prstGeom prst="rect">
            <a:avLst/>
          </a:prstGeom>
          <a:solidFill>
            <a:srgbClr val="0F1E38"/>
          </a:solidFill>
          <a:ln w="12700">
            <a:solidFill>
              <a:srgbClr val="0F1E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371600"/>
            <a:ext cx="416052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41732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😊  ЭМОЦИИ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47472" y="1847088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Любой менеджер должен вызывать только положительные эмоции у клиента. Поэтому нужно звонить с улыбкой на лице.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" y="2606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😄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22960" y="2697480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Улыбка слышна в голосе — проверено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47472" y="3154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🎵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22960" y="3246120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Ровный темп, без монотонности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47472" y="3703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🤗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22960" y="3794760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Тепло и искренность — не скрипт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47472" y="4251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💪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22960" y="4343400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Уверенность в продукте — ты знаешь клуб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3977640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4663440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Арайлым на звонке: смеётся с клиентом, говорит живо — не по бумажке.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17720" y="1371600"/>
            <a:ext cx="4270248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1371600"/>
            <a:ext cx="4270248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1417320"/>
            <a:ext cx="4087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🧩  СТРУКТУРА КОНСУЛЬТАЦИИ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09160" y="1847088"/>
            <a:ext cx="4087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Логичность — главное.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09160" y="2148840"/>
            <a:ext cx="4087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Плавные переходы из этапа в этап. Не сплошная консультация как у робота.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09160" y="2724912"/>
            <a:ext cx="4087368" cy="256032"/>
          </a:xfrm>
          <a:prstGeom prst="rect">
            <a:avLst/>
          </a:prstGeom>
          <a:solidFill>
            <a:srgbClr val="EAF5EA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27432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ПРАВИЛЬНЫЙ ПЕРЕХОД: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09160" y="2999232"/>
            <a:ext cx="4087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«[Имя], я вас услышал. Исходя из вашей цели — похудение — и того, что вы выбираете зал поближе к работе, я бы рекомендовал вот этот вариант…»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3749040"/>
            <a:ext cx="4087368" cy="25603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37673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КАК НЕ НАДО: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09160" y="4023360"/>
            <a:ext cx="4087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«У нас есть годовой за 200к, полугодовой за 120к, месячный за 40к, с тренером за 280к, рассрочка есть, сауна есть, групповые есть…» — клиент заснул.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⭐  РАЗБОР ЛУЧШИХ КЕЙСОВ — АРАЙЛЫМ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005840"/>
            <a:ext cx="4206240" cy="1828800"/>
          </a:xfrm>
          <a:prstGeom prst="rect">
            <a:avLst/>
          </a:prstGeom>
          <a:solidFill>
            <a:srgbClr val="1A2B4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05840"/>
            <a:ext cx="420624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1155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Нурбол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7472" y="1389888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Дожим → Закрытие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7472" y="1627632"/>
            <a:ext cx="4005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Сказал «нет денег». Арайлым — 3 касания за 2 дня. На третьем: рассрочка без первого платежа.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157984"/>
            <a:ext cx="4005072" cy="256032"/>
          </a:xfrm>
          <a:prstGeom prst="rect">
            <a:avLst/>
          </a:prstGeom>
          <a:solidFill>
            <a:srgbClr val="EAF5EA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" y="2176272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Продажа в 22:08 ночи ✅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" y="2468880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Возражение «нет денег» = предложи рассрочку без первого платежа.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90872" y="1005840"/>
            <a:ext cx="4206240" cy="1828800"/>
          </a:xfrm>
          <a:prstGeom prst="rect">
            <a:avLst/>
          </a:prstGeom>
          <a:solidFill>
            <a:srgbClr val="1A2B4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90872" y="1005840"/>
            <a:ext cx="420624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2312" y="11155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Елизавета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82312" y="1389888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Презентация → Закрытие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82312" y="1627632"/>
            <a:ext cx="4005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хотела год → Арайлым тут же предложила 6 месяцев. Написала follow-up на следующий день.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82312" y="2157984"/>
            <a:ext cx="4005072" cy="256032"/>
          </a:xfrm>
          <a:prstGeom prst="rect">
            <a:avLst/>
          </a:prstGeom>
          <a:solidFill>
            <a:srgbClr val="EAF5EA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2176272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Продажа 120 000 ₸ ✅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82312" y="2468880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Клиент сказал «не готова к году» — сразу адаптируй оффер, не настаивай.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56032" y="2999232"/>
            <a:ext cx="4206240" cy="1828800"/>
          </a:xfrm>
          <a:prstGeom prst="rect">
            <a:avLst/>
          </a:prstGeom>
          <a:solidFill>
            <a:srgbClr val="1A2B4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56032" y="2999232"/>
            <a:ext cx="420624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31089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Мадина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47472" y="3383280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Закрытие → Двойная продажа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47472" y="3621024"/>
            <a:ext cx="4005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ждала подругу. Арайлым: «фиксируем за вами, подруга потом оформится» + дала скидку обеим.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7472" y="4151376"/>
            <a:ext cx="4005072" cy="256032"/>
          </a:xfrm>
          <a:prstGeom prst="rect">
            <a:avLst/>
          </a:prstGeom>
          <a:solidFill>
            <a:srgbClr val="EAF5EA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3192" y="4169664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2 продажи по 190 000 ₸ ✅✅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7472" y="4462272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Клиент упомянул друга/подругу — сразу предложи оформить обоих.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90872" y="2999232"/>
            <a:ext cx="4206240" cy="1828800"/>
          </a:xfrm>
          <a:prstGeom prst="rect">
            <a:avLst/>
          </a:prstGeom>
          <a:solidFill>
            <a:srgbClr val="1A2B4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90872" y="2999232"/>
            <a:ext cx="4206240" cy="73152"/>
          </a:xfrm>
          <a:prstGeom prst="rect">
            <a:avLst/>
          </a:prstGeom>
          <a:solidFill>
            <a:srgbClr val="E8402A"/>
          </a:solidFill>
          <a:ln w="12700">
            <a:solidFill>
              <a:srgbClr val="E840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82312" y="31089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4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Гумырбек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782312" y="3383280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Возражения → Дожим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82312" y="3621024"/>
            <a:ext cx="4005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Раскусил скрипт: «я в продажах с 2008-го». Арайлым не растерялась, ответила честно, предложила пробное.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82312" y="4151376"/>
            <a:ext cx="4005072" cy="256032"/>
          </a:xfrm>
          <a:prstGeom prst="rect">
            <a:avLst/>
          </a:prstGeom>
          <a:solidFill>
            <a:srgbClr val="EAF5EA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28032" y="4169664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Клиент написал снова через 4 дня ⏳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82312" y="4462272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Когда раскусили скрипт — говори честно, предложи пробное. Не паникуй.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0" b="1" dirty="0">
                <a:solidFill>
                  <a:srgbClr val="FFFFFF">
                    <a:alpha val="7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ПРОДАВАЙ</a:t>
            </a:r>
            <a:endParaRPr lang="en-US" sz="19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ПРОДАВАЙ КАК АРАЙЛЫМ!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202996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Применяй все 8 этапов — и результат не заставит себя ждать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48716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Underground GYM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3246120"/>
            <a:ext cx="2651760" cy="475488"/>
          </a:xfrm>
          <a:prstGeom prst="rect">
            <a:avLst/>
          </a:prstGeom>
          <a:solidFill>
            <a:srgbClr val="1A2B45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31012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👋  Установи контакт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73552" y="3246120"/>
            <a:ext cx="2651760" cy="475488"/>
          </a:xfrm>
          <a:prstGeom prst="rect">
            <a:avLst/>
          </a:prstGeom>
          <a:solidFill>
            <a:srgbClr val="1A2B45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73552" y="331012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Задай 5 вопросов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89904" y="3246120"/>
            <a:ext cx="2651760" cy="475488"/>
          </a:xfrm>
          <a:prstGeom prst="rect">
            <a:avLst/>
          </a:prstGeom>
          <a:solidFill>
            <a:srgbClr val="1A2B45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9904" y="331012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Презентуй точно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813048"/>
            <a:ext cx="2651760" cy="475488"/>
          </a:xfrm>
          <a:prstGeom prst="rect">
            <a:avLst/>
          </a:prstGeom>
          <a:solidFill>
            <a:srgbClr val="1A2B45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87705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Закрывай прямо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73552" y="3813048"/>
            <a:ext cx="2651760" cy="475488"/>
          </a:xfrm>
          <a:prstGeom prst="rect">
            <a:avLst/>
          </a:prstGeom>
          <a:solidFill>
            <a:srgbClr val="1A2B45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73552" y="387705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Обработай возражения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89904" y="3813048"/>
            <a:ext cx="2651760" cy="475488"/>
          </a:xfrm>
          <a:prstGeom prst="rect">
            <a:avLst/>
          </a:prstGeom>
          <a:solidFill>
            <a:srgbClr val="1A2B45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9904" y="387705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3 касания до конца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Этапы консультации — Underground GYM</dc:title>
  <dc:subject>PptxGenJS Presentation</dc:subject>
  <dc:creator>PptxGenJS</dc:creator>
  <cp:lastModifiedBy>PptxGenJS</cp:lastModifiedBy>
  <cp:revision>1</cp:revision>
  <dcterms:created xsi:type="dcterms:W3CDTF">2026-03-03T09:00:06Z</dcterms:created>
  <dcterms:modified xsi:type="dcterms:W3CDTF">2026-03-03T09:00:06Z</dcterms:modified>
</cp:coreProperties>
</file>